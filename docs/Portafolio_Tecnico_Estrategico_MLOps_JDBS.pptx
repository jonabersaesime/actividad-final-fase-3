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57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B5B23-C956-F514-3706-1480428E6D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8D6397-04C0-BA02-734C-6B0D617745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9902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74EE717-FD43-261E-4511-FD437D4B7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432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9D8E15F-3BBC-10DB-F5A2-07506A69E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464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BAD9896-9EF1-2CC0-30E8-A75605336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1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C2666F6-5E27-4B29-6ED5-3F23C13E5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32" y="626257"/>
            <a:ext cx="7287768" cy="485851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178A5AC-2FF9-F21A-094B-98FAD4BDD39A}"/>
              </a:ext>
            </a:extLst>
          </p:cNvPr>
          <p:cNvSpPr txBox="1"/>
          <p:nvPr/>
        </p:nvSpPr>
        <p:spPr>
          <a:xfrm>
            <a:off x="1243584" y="164592"/>
            <a:ext cx="507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Arquitectura de la Plataforma </a:t>
            </a:r>
            <a:r>
              <a:rPr lang="es-MX" sz="2400" dirty="0" err="1"/>
              <a:t>MLOps</a:t>
            </a:r>
            <a:endParaRPr lang="es-MX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A5DC2DA-CF50-F86B-B3DB-2141AB088426}"/>
              </a:ext>
            </a:extLst>
          </p:cNvPr>
          <p:cNvSpPr txBox="1"/>
          <p:nvPr/>
        </p:nvSpPr>
        <p:spPr>
          <a:xfrm>
            <a:off x="1746504" y="5660136"/>
            <a:ext cx="8723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La solución integra un modelo de clasificación basado en </a:t>
            </a:r>
            <a:r>
              <a:rPr lang="es-MX" dirty="0" err="1"/>
              <a:t>Random</a:t>
            </a:r>
            <a:r>
              <a:rPr lang="es-MX" dirty="0"/>
              <a:t> Forest con componentes de </a:t>
            </a:r>
            <a:r>
              <a:rPr lang="es-MX" dirty="0" err="1"/>
              <a:t>observabilidad</a:t>
            </a:r>
            <a:r>
              <a:rPr lang="es-MX" dirty="0"/>
              <a:t>, monitoreo continuo, detección de Data </a:t>
            </a:r>
            <a:r>
              <a:rPr lang="es-MX" dirty="0" err="1"/>
              <a:t>Drift</a:t>
            </a:r>
            <a:r>
              <a:rPr lang="es-MX" dirty="0"/>
              <a:t>, gestión de experimentos mediante </a:t>
            </a:r>
            <a:r>
              <a:rPr lang="es-MX" dirty="0" err="1"/>
              <a:t>MLflow</a:t>
            </a:r>
            <a:r>
              <a:rPr lang="es-MX" dirty="0"/>
              <a:t> y un Pipeline Automatizado implementado con GitHub </a:t>
            </a:r>
            <a:r>
              <a:rPr lang="es-MX" dirty="0" err="1"/>
              <a:t>Actions</a:t>
            </a:r>
            <a:r>
              <a:rPr lang="es-MX" dirty="0"/>
              <a:t>. Todo el ecosistema permite supervisar el ciclo de vida del modelo bajo un enfoque </a:t>
            </a:r>
            <a:r>
              <a:rPr lang="es-MX" dirty="0" err="1"/>
              <a:t>MLOps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6171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96870E9-81EB-F923-3B76-398FA6006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48" y="0"/>
            <a:ext cx="10280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69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A6397A7-315D-783C-BB2D-56AC7CF30F8E}"/>
              </a:ext>
            </a:extLst>
          </p:cNvPr>
          <p:cNvSpPr txBox="1"/>
          <p:nvPr/>
        </p:nvSpPr>
        <p:spPr>
          <a:xfrm>
            <a:off x="1700784" y="219456"/>
            <a:ext cx="4709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Pipeline Automatizado (CI/CD)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7AED5C-EB18-9D1F-6847-ACAE169F1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" y="813817"/>
            <a:ext cx="7936992" cy="426452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F82A760-142D-7C23-7DC2-A47C03F432FB}"/>
              </a:ext>
            </a:extLst>
          </p:cNvPr>
          <p:cNvSpPr txBox="1"/>
          <p:nvPr/>
        </p:nvSpPr>
        <p:spPr>
          <a:xfrm>
            <a:off x="1901952" y="5230368"/>
            <a:ext cx="7735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El Pipeline se ejecutó exitosamente validando el entorno, las dependencias y el sistema de monitoreo. La integración continua implementada mediante GitHub </a:t>
            </a:r>
            <a:r>
              <a:rPr lang="es-MX" dirty="0" err="1"/>
              <a:t>Actions</a:t>
            </a:r>
            <a:r>
              <a:rPr lang="es-MX" dirty="0"/>
              <a:t> garantiza la estabilidad del proyecto y automatiza el proceso de validación antes de incorporar nuevos cambios al repositorio.</a:t>
            </a:r>
          </a:p>
        </p:txBody>
      </p:sp>
    </p:spTree>
    <p:extLst>
      <p:ext uri="{BB962C8B-B14F-4D97-AF65-F5344CB8AC3E}">
        <p14:creationId xmlns:p14="http://schemas.microsoft.com/office/powerpoint/2010/main" val="3646838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4F0AE1F-128D-A031-1F27-CA55476C100B}"/>
              </a:ext>
            </a:extLst>
          </p:cNvPr>
          <p:cNvSpPr txBox="1"/>
          <p:nvPr/>
        </p:nvSpPr>
        <p:spPr>
          <a:xfrm>
            <a:off x="1341882" y="354830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Resultados Obtenidos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9B2627A-090F-6B19-4E16-F60F6FEBE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82" y="1014984"/>
            <a:ext cx="6579839" cy="427584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8DBA55A-D255-8913-E4FF-06BA2C21BED5}"/>
              </a:ext>
            </a:extLst>
          </p:cNvPr>
          <p:cNvSpPr txBox="1"/>
          <p:nvPr/>
        </p:nvSpPr>
        <p:spPr>
          <a:xfrm>
            <a:off x="1341882" y="5290825"/>
            <a:ext cx="90457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ejecución de la plataforma permitió validar el correcto funcionamiento de todos los componentes desarrollados para el monitoreo y </a:t>
            </a:r>
            <a:r>
              <a:rPr lang="es-MX" dirty="0" err="1"/>
              <a:t>observabilidad</a:t>
            </a:r>
            <a:r>
              <a:rPr lang="es-MX" dirty="0"/>
              <a:t> del modelo de clasificación de cáncer de mama. Durante la ejecución se evaluó el desempeño del modelo, se verificó la existencia de Data </a:t>
            </a:r>
            <a:r>
              <a:rPr lang="es-MX" dirty="0" err="1"/>
              <a:t>Drift</a:t>
            </a:r>
            <a:r>
              <a:rPr lang="es-MX" dirty="0"/>
              <a:t>, se generaron alertas automáticas y se propusieron acciones mediante </a:t>
            </a:r>
            <a:r>
              <a:rPr lang="es-MX" dirty="0" err="1"/>
              <a:t>Runbooks</a:t>
            </a:r>
            <a:r>
              <a:rPr lang="es-MX" dirty="0"/>
              <a:t>, demostrando el funcionamiento integral de la solución.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513252B-3201-FC9C-9F1F-B2E058E0E6C6}"/>
              </a:ext>
            </a:extLst>
          </p:cNvPr>
          <p:cNvSpPr txBox="1"/>
          <p:nvPr/>
        </p:nvSpPr>
        <p:spPr>
          <a:xfrm>
            <a:off x="7910322" y="1721743"/>
            <a:ext cx="42816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 err="1"/>
              <a:t>Observabilidad</a:t>
            </a:r>
            <a:endParaRPr lang="es-MX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No se detectó Data </a:t>
            </a:r>
            <a:r>
              <a:rPr lang="es-MX" dirty="0" err="1"/>
              <a:t>Drift</a:t>
            </a:r>
            <a:r>
              <a:rPr lang="es-MX" dirty="0"/>
              <a:t> durante la evaluación.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sistema clasificó el estado como </a:t>
            </a:r>
            <a:r>
              <a:rPr lang="es-MX" b="1" dirty="0"/>
              <a:t>INFO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Las métricas permanecieron dentro de los umbrales definidos.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Se generó automáticamente el </a:t>
            </a:r>
            <a:r>
              <a:rPr lang="es-MX" dirty="0" err="1"/>
              <a:t>Runbook</a:t>
            </a:r>
            <a:r>
              <a:rPr lang="es-MX" dirty="0"/>
              <a:t> correspondiente.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No fue necesario realizar acciones correctivas.</a:t>
            </a:r>
          </a:p>
        </p:txBody>
      </p:sp>
    </p:spTree>
    <p:extLst>
      <p:ext uri="{BB962C8B-B14F-4D97-AF65-F5344CB8AC3E}">
        <p14:creationId xmlns:p14="http://schemas.microsoft.com/office/powerpoint/2010/main" val="3122293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7AF6C24-90CE-6BD9-5B5C-410885E0F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12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C7B3D5C-95DC-6D7E-7949-71FA5CAF1FF3}"/>
              </a:ext>
            </a:extLst>
          </p:cNvPr>
          <p:cNvSpPr txBox="1"/>
          <p:nvPr/>
        </p:nvSpPr>
        <p:spPr>
          <a:xfrm>
            <a:off x="1277874" y="217670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Herramientas de Monitoreo y Trazabilidad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51261CC-B3D6-4C15-881F-C2ED9BD16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7" y="740664"/>
            <a:ext cx="5077083" cy="268833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480AE6E-D16F-0BFC-1FEB-8A20D28D2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160" y="2997200"/>
            <a:ext cx="4194733" cy="337823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4DD6D72-2CBB-0415-24BA-5E504DFED1DF}"/>
              </a:ext>
            </a:extLst>
          </p:cNvPr>
          <p:cNvSpPr txBox="1"/>
          <p:nvPr/>
        </p:nvSpPr>
        <p:spPr>
          <a:xfrm>
            <a:off x="6175812" y="1211703"/>
            <a:ext cx="56678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/>
              <a:t>MLflow</a:t>
            </a:r>
            <a:r>
              <a:rPr lang="es-MX" dirty="0"/>
              <a:t> permitió registrar automáticamente las ejecuciones del modelo </a:t>
            </a:r>
            <a:r>
              <a:rPr lang="es-MX" dirty="0" err="1"/>
              <a:t>Random</a:t>
            </a:r>
            <a:r>
              <a:rPr lang="es-MX" dirty="0"/>
              <a:t> Forest, almacenando métricas, parámetros y versiones para garantizar la trazabilidad y reproducibilidad de los experimentos durante el ciclo de vida del proyecto.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C296A0-1BCC-C0C7-AB01-659682A55CC9}"/>
              </a:ext>
            </a:extLst>
          </p:cNvPr>
          <p:cNvSpPr txBox="1"/>
          <p:nvPr/>
        </p:nvSpPr>
        <p:spPr>
          <a:xfrm>
            <a:off x="853110" y="3684337"/>
            <a:ext cx="61044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desarrolló un </a:t>
            </a:r>
            <a:r>
              <a:rPr lang="es-MX" dirty="0" err="1"/>
              <a:t>Dashboard</a:t>
            </a:r>
            <a:r>
              <a:rPr lang="es-MX" dirty="0"/>
              <a:t> interactivo mediante </a:t>
            </a:r>
            <a:r>
              <a:rPr lang="es-MX" dirty="0" err="1"/>
              <a:t>Streamlit</a:t>
            </a:r>
            <a:r>
              <a:rPr lang="es-MX" dirty="0"/>
              <a:t> que permite modificar la distribución de las variables del </a:t>
            </a:r>
            <a:r>
              <a:rPr lang="es-MX" dirty="0" err="1"/>
              <a:t>dataset</a:t>
            </a:r>
            <a:r>
              <a:rPr lang="es-MX" dirty="0"/>
              <a:t> </a:t>
            </a:r>
            <a:r>
              <a:rPr lang="es-MX" dirty="0" err="1"/>
              <a:t>Breast</a:t>
            </a:r>
            <a:r>
              <a:rPr lang="es-MX" dirty="0"/>
              <a:t> </a:t>
            </a:r>
            <a:r>
              <a:rPr lang="es-MX" dirty="0" err="1"/>
              <a:t>Cancer</a:t>
            </a:r>
            <a:r>
              <a:rPr lang="es-MX" dirty="0"/>
              <a:t> Wisconsin y evaluar de forma dinámica la presencia de Data </a:t>
            </a:r>
            <a:r>
              <a:rPr lang="es-MX" dirty="0" err="1"/>
              <a:t>Drift</a:t>
            </a:r>
            <a:r>
              <a:rPr lang="es-MX" dirty="0"/>
              <a:t> utilizando la prueba estadística </a:t>
            </a:r>
            <a:r>
              <a:rPr lang="es-MX" dirty="0" err="1"/>
              <a:t>Kolmogorov-Smirnov</a:t>
            </a:r>
            <a:r>
              <a:rPr lang="es-MX" dirty="0"/>
              <a:t>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DE2890B-195F-71B5-8DB0-47829B4110DD}"/>
              </a:ext>
            </a:extLst>
          </p:cNvPr>
          <p:cNvSpPr txBox="1"/>
          <p:nvPr/>
        </p:nvSpPr>
        <p:spPr>
          <a:xfrm>
            <a:off x="1277874" y="5206272"/>
            <a:ext cx="61036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integración de </a:t>
            </a:r>
            <a:r>
              <a:rPr lang="es-MX" dirty="0" err="1"/>
              <a:t>MLflow</a:t>
            </a:r>
            <a:r>
              <a:rPr lang="es-MX" dirty="0"/>
              <a:t> y </a:t>
            </a:r>
            <a:r>
              <a:rPr lang="es-MX" dirty="0" err="1"/>
              <a:t>Streamlit</a:t>
            </a:r>
            <a:r>
              <a:rPr lang="es-MX" dirty="0"/>
              <a:t> permitió combinar trazabilidad y monitoreo interactivo, proporcionando una plataforma que facilita tanto el seguimiento histórico de los experimentos como la supervisión del comportamiento del modelo durante su operación.</a:t>
            </a:r>
          </a:p>
        </p:txBody>
      </p:sp>
    </p:spTree>
    <p:extLst>
      <p:ext uri="{BB962C8B-B14F-4D97-AF65-F5344CB8AC3E}">
        <p14:creationId xmlns:p14="http://schemas.microsoft.com/office/powerpoint/2010/main" val="2595769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E16B5D-2014-06F4-A8B8-48368DF86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65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729BC43-ACFB-1BEA-1BB4-610B893D5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216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{86D4AB6A-8789-43FC-8099-4D9D3DDEBA00}TF6d5feb1e-e145-43f1-b745-cb4b54c5ee978f476b7f-4dbac0905932</Template>
  <TotalTime>98</TotalTime>
  <Words>329</Words>
  <Application>Microsoft Office PowerPoint</Application>
  <PresentationFormat>Panorámica</PresentationFormat>
  <Paragraphs>16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DANIEL BERNAL SANCHEZ</dc:creator>
  <cp:lastModifiedBy>JONATHAN DANIEL BERNAL SANCHEZ</cp:lastModifiedBy>
  <cp:revision>1</cp:revision>
  <dcterms:created xsi:type="dcterms:W3CDTF">2026-08-03T00:44:52Z</dcterms:created>
  <dcterms:modified xsi:type="dcterms:W3CDTF">2026-08-03T02:23:45Z</dcterms:modified>
</cp:coreProperties>
</file>