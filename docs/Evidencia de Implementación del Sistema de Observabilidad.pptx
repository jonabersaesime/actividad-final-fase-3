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47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440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123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1787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85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357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269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137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48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71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31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3CFFDD-F0F8-42E4-8368-539144BB8EBF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DCB46D9-7914-428D-96AE-4413AB154BBE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19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7909C-7881-9DD8-5E45-BDBF4397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" y="4553712"/>
            <a:ext cx="7973568" cy="1869465"/>
          </a:xfrm>
        </p:spPr>
        <p:txBody>
          <a:bodyPr>
            <a:normAutofit/>
          </a:bodyPr>
          <a:lstStyle/>
          <a:p>
            <a:pPr algn="l"/>
            <a:r>
              <a:rPr lang="es-MX" sz="2000" dirty="0"/>
              <a:t>Evidencia de Implementación</a:t>
            </a:r>
            <a:br>
              <a:rPr lang="es-MX" sz="2000" dirty="0"/>
            </a:br>
            <a:r>
              <a:rPr lang="es-MX" sz="2000" dirty="0"/>
              <a:t>Sistema de </a:t>
            </a:r>
            <a:r>
              <a:rPr lang="es-MX" sz="2000" dirty="0" err="1"/>
              <a:t>observabilidad</a:t>
            </a:r>
            <a:r>
              <a:rPr lang="es-MX" sz="2000" dirty="0"/>
              <a:t>, monitoreo, alertas y Data </a:t>
            </a:r>
            <a:r>
              <a:rPr lang="es-MX" sz="2000" dirty="0" err="1"/>
              <a:t>Drift</a:t>
            </a:r>
            <a:br>
              <a:rPr lang="es-MX" sz="2000" dirty="0"/>
            </a:br>
            <a:r>
              <a:rPr lang="es-MX" sz="2000" b="1" dirty="0"/>
              <a:t>           </a:t>
            </a:r>
            <a:r>
              <a:rPr lang="es-MX" sz="2000" dirty="0"/>
              <a:t>alumno:   Jonathan Bernal</a:t>
            </a:r>
            <a:br>
              <a:rPr lang="es-MX" sz="2000" dirty="0"/>
            </a:br>
            <a:r>
              <a:rPr lang="es-MX" sz="2000" dirty="0"/>
              <a:t>            profesor: Luis Vázquez</a:t>
            </a:r>
            <a:br>
              <a:rPr lang="es-MX" sz="2000" dirty="0"/>
            </a:br>
            <a:r>
              <a:rPr lang="es-MX" sz="2000" dirty="0"/>
              <a:t>            Tecmilenio, julio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EEED68-20CE-B42F-7CFD-EE931B817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sz="1800" dirty="0"/>
              <a:t>Evidencia de Implementación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0435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61D91-1063-818C-CC1F-BFDCCFAA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319A0F-303C-CB06-2F51-5D4CF388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882896" cy="1389888"/>
          </a:xfrm>
        </p:spPr>
        <p:txBody>
          <a:bodyPr/>
          <a:lstStyle/>
          <a:p>
            <a:r>
              <a:rPr lang="es-MX" dirty="0"/>
              <a:t>“Se implementó una arquitectura modular para separar entrenamiento, monitoreo, alertas, detección de Data </a:t>
            </a:r>
            <a:r>
              <a:rPr lang="es-MX" dirty="0" err="1"/>
              <a:t>Drift</a:t>
            </a:r>
            <a:r>
              <a:rPr lang="es-MX" dirty="0"/>
              <a:t>, logs y </a:t>
            </a:r>
            <a:r>
              <a:rPr lang="es-MX" dirty="0" err="1"/>
              <a:t>Runbooks</a:t>
            </a:r>
            <a:r>
              <a:rPr lang="es-MX" dirty="0"/>
              <a:t>.”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D8A9CD-5E20-F9B0-BE1E-B532FDE8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471" y="1335024"/>
            <a:ext cx="2432729" cy="512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0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B9D61-56B6-D0D3-125B-A49D1BDB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Ejecución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CCB6A3-4628-B4E9-0341-72ED7E252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286000"/>
            <a:ext cx="4496139" cy="1439333"/>
          </a:xfrm>
        </p:spPr>
        <p:txBody>
          <a:bodyPr>
            <a:noAutofit/>
          </a:bodyPr>
          <a:lstStyle/>
          <a:p>
            <a:r>
              <a:rPr lang="es-MX" dirty="0"/>
              <a:t>“El sistema entrena el modelo, calcula métricas, evalúa alertas, detecta Data </a:t>
            </a:r>
            <a:r>
              <a:rPr lang="es-MX" dirty="0" err="1"/>
              <a:t>Drift</a:t>
            </a:r>
            <a:r>
              <a:rPr lang="es-MX" dirty="0"/>
              <a:t> y muestra el </a:t>
            </a:r>
            <a:r>
              <a:rPr lang="es-MX" dirty="0" err="1"/>
              <a:t>Runbook</a:t>
            </a:r>
            <a:r>
              <a:rPr lang="es-MX" dirty="0"/>
              <a:t> recomendado.”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311760-4ECE-B0B0-8773-CEB4A0069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776" y="1498325"/>
            <a:ext cx="6312224" cy="53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04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5E7A4-65C6-FA9F-3276-BF7BA1D3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Métricas del modelo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9960D8-DC4D-A640-815F-8F78CC96B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660400"/>
          </a:xfrm>
        </p:spPr>
        <p:txBody>
          <a:bodyPr>
            <a:normAutofit lnSpcReduction="10000"/>
          </a:bodyPr>
          <a:lstStyle/>
          <a:p>
            <a:r>
              <a:rPr lang="es-MX" dirty="0"/>
              <a:t>“</a:t>
            </a:r>
            <a:r>
              <a:rPr lang="es-MX" dirty="0" err="1"/>
              <a:t>MLflow</a:t>
            </a:r>
            <a:r>
              <a:rPr lang="es-MX" dirty="0"/>
              <a:t> permitió registrar experimentos, parámetros, métricas y trazabilidad del entrenamiento.”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5B4A49-7AD4-E606-906A-B7C3F5EE9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2946400"/>
            <a:ext cx="5066831" cy="385254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880D763-F9E3-08B5-911E-D18F80AC2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101" y="2869644"/>
            <a:ext cx="6538277" cy="24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3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EE6C7-13D9-5E03-878D-B9A0F25B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Dashboard</a:t>
            </a:r>
            <a:r>
              <a:rPr lang="es-MX" dirty="0"/>
              <a:t> </a:t>
            </a:r>
            <a:r>
              <a:rPr lang="es-MX" dirty="0" err="1"/>
              <a:t>Streamlit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D8F8-BEBD-E90F-3B1E-31D934DDE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643467"/>
          </a:xfrm>
        </p:spPr>
        <p:txBody>
          <a:bodyPr>
            <a:normAutofit lnSpcReduction="10000"/>
          </a:bodyPr>
          <a:lstStyle/>
          <a:p>
            <a:r>
              <a:rPr lang="es-MX" dirty="0"/>
              <a:t>“El </a:t>
            </a:r>
            <a:r>
              <a:rPr lang="es-MX" dirty="0" err="1"/>
              <a:t>dashboard</a:t>
            </a:r>
            <a:r>
              <a:rPr lang="es-MX" dirty="0"/>
              <a:t> permite seleccionar variables y simular cambios en la distribución de datos.”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207CF4-3AB2-32A2-A1E5-3D04B060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75" y="2929467"/>
            <a:ext cx="4390125" cy="366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4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986B3-8A6A-FB72-7CDF-3E34AE9E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Data </a:t>
            </a:r>
            <a:r>
              <a:rPr lang="es-MX" dirty="0" err="1"/>
              <a:t>Drift</a:t>
            </a:r>
            <a:r>
              <a:rPr lang="es-MX" dirty="0"/>
              <a:t> detectado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3626DC-FD9E-C771-530E-D255EF1E7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651933"/>
          </a:xfrm>
        </p:spPr>
        <p:txBody>
          <a:bodyPr>
            <a:normAutofit lnSpcReduction="10000"/>
          </a:bodyPr>
          <a:lstStyle/>
          <a:p>
            <a:r>
              <a:rPr lang="es-MX" dirty="0"/>
              <a:t>“El sistema detectó Data </a:t>
            </a:r>
            <a:r>
              <a:rPr lang="es-MX" dirty="0" err="1"/>
              <a:t>Drift</a:t>
            </a:r>
            <a:r>
              <a:rPr lang="es-MX" dirty="0"/>
              <a:t> al modificar la distribución de una variable, generando una alerta visual.”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76BF9F-972A-55B8-D6A3-3E0EF697A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430" y="2752819"/>
            <a:ext cx="4416281" cy="37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0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24BC2-F139-D426-9644-265B2DF0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Logs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5C915E-2E5A-FA5A-E676-52925BCE7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677333"/>
          </a:xfrm>
        </p:spPr>
        <p:txBody>
          <a:bodyPr>
            <a:normAutofit lnSpcReduction="10000"/>
          </a:bodyPr>
          <a:lstStyle/>
          <a:p>
            <a:r>
              <a:rPr lang="es-MX" dirty="0"/>
              <a:t>“Los eventos relevantes se registran automáticamente para facilitar auditoría, trazabilidad y análisis de incidentes.”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D46555-4F11-C328-5F7F-7352BC6A2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960" y="2898648"/>
            <a:ext cx="5866998" cy="37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12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8ABAF-E399-3F40-5EE8-DFF26DC0B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Alertas y </a:t>
            </a:r>
            <a:r>
              <a:rPr lang="es-MX" dirty="0" err="1"/>
              <a:t>Runbooks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99E851-58A1-4097-22C9-7C43A25A4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667512"/>
          </a:xfrm>
        </p:spPr>
        <p:txBody>
          <a:bodyPr>
            <a:normAutofit lnSpcReduction="10000"/>
          </a:bodyPr>
          <a:lstStyle/>
          <a:p>
            <a:r>
              <a:rPr lang="es-MX" dirty="0"/>
              <a:t>“El sistema clasifica alertas y propone acciones mediante </a:t>
            </a:r>
            <a:r>
              <a:rPr lang="es-MX" dirty="0" err="1"/>
              <a:t>Runbooks</a:t>
            </a:r>
            <a:r>
              <a:rPr lang="es-MX" dirty="0"/>
              <a:t> para estandarizar la respuesta.”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F09B34-5D2D-535B-D380-0C881C360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590" y="3036130"/>
            <a:ext cx="6452729" cy="33098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213938E-A6C7-1527-A46B-4095839785AB}"/>
              </a:ext>
            </a:extLst>
          </p:cNvPr>
          <p:cNvSpPr txBox="1"/>
          <p:nvPr/>
        </p:nvSpPr>
        <p:spPr>
          <a:xfrm>
            <a:off x="493776" y="2953512"/>
            <a:ext cx="37033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sistema evalúa automáticamente las métricas del modelo para determinar su estado operativo. En este caso, el valor de </a:t>
            </a:r>
            <a:r>
              <a:rPr lang="es-MX" b="1" dirty="0" err="1"/>
              <a:t>Recall</a:t>
            </a:r>
            <a:r>
              <a:rPr lang="es-MX" b="1" dirty="0"/>
              <a:t> (0.9286)</a:t>
            </a:r>
            <a:r>
              <a:rPr lang="es-MX" dirty="0"/>
              <a:t> se encuentra dentro del rango esperado, por lo que se genera una alerta de nivel </a:t>
            </a:r>
            <a:r>
              <a:rPr lang="es-MX" b="1" dirty="0"/>
              <a:t>INFO</a:t>
            </a:r>
            <a:r>
              <a:rPr lang="es-MX" dirty="0"/>
              <a:t>. Con base en esta evaluación, el módulo de </a:t>
            </a:r>
            <a:r>
              <a:rPr lang="es-MX" dirty="0" err="1"/>
              <a:t>Runbooks</a:t>
            </a:r>
            <a:r>
              <a:rPr lang="es-MX" dirty="0"/>
              <a:t> recomienda continuar con el monitoreo periódico sin requerir acciones correctivas. Este mecanismo permite estandarizar la respuesta ante incidentes y facilita la supervisión continua del modelo.</a:t>
            </a:r>
          </a:p>
        </p:txBody>
      </p:sp>
    </p:spTree>
    <p:extLst>
      <p:ext uri="{BB962C8B-B14F-4D97-AF65-F5344CB8AC3E}">
        <p14:creationId xmlns:p14="http://schemas.microsoft.com/office/powerpoint/2010/main" val="63141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47807-F718-FF73-A70E-C9107877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Cierre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A6082F-F721-F349-C00C-12885F23F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2286000"/>
            <a:ext cx="11713464" cy="4023360"/>
          </a:xfrm>
        </p:spPr>
        <p:txBody>
          <a:bodyPr/>
          <a:lstStyle/>
          <a:p>
            <a:r>
              <a:rPr lang="es-MX" dirty="0"/>
              <a:t>El sistema desarrollado integra de manera exitosa los principales componentes de </a:t>
            </a:r>
            <a:r>
              <a:rPr lang="es-MX" dirty="0" err="1"/>
              <a:t>observabilidad</a:t>
            </a:r>
            <a:r>
              <a:rPr lang="es-MX" dirty="0"/>
              <a:t> para modelos de Machine </a:t>
            </a:r>
            <a:r>
              <a:rPr lang="es-MX" dirty="0" err="1"/>
              <a:t>Learning</a:t>
            </a:r>
            <a:r>
              <a:rPr lang="es-MX" dirty="0"/>
              <a:t>, permitiendo supervisar continuamente su desempeño mediante métricas, registrar experimentos con </a:t>
            </a:r>
            <a:r>
              <a:rPr lang="es-MX" dirty="0" err="1"/>
              <a:t>MLflow</a:t>
            </a:r>
            <a:r>
              <a:rPr lang="es-MX" dirty="0"/>
              <a:t>, detectar cambios en la distribución de los datos mediante Data </a:t>
            </a:r>
            <a:r>
              <a:rPr lang="es-MX" dirty="0" err="1"/>
              <a:t>Drift</a:t>
            </a:r>
            <a:r>
              <a:rPr lang="es-MX" dirty="0"/>
              <a:t>, generar alertas inteligentes y recomendar acciones correctivas a través de </a:t>
            </a:r>
            <a:r>
              <a:rPr lang="es-MX" dirty="0" err="1"/>
              <a:t>Runbooks</a:t>
            </a:r>
            <a:r>
              <a:rPr lang="es-MX" dirty="0"/>
              <a:t>.</a:t>
            </a:r>
          </a:p>
          <a:p>
            <a:r>
              <a:rPr lang="es-MX" dirty="0"/>
              <a:t>La solución implementada demuestra cómo las prácticas de </a:t>
            </a:r>
            <a:r>
              <a:rPr lang="es-MX" b="1" dirty="0" err="1"/>
              <a:t>MLOps</a:t>
            </a:r>
            <a:r>
              <a:rPr lang="es-MX" dirty="0"/>
              <a:t> contribuyen a mejorar la confiabilidad, trazabilidad y mantenimiento de modelos de Inteligencia Artificial durante su ciclo de vida, proporcionando una base sólida para su futura implementación en entornos productivos.</a:t>
            </a:r>
          </a:p>
          <a:p>
            <a:endParaRPr lang="es-MX" dirty="0"/>
          </a:p>
          <a:p>
            <a:r>
              <a:rPr lang="es-MX" dirty="0"/>
              <a:t>"La </a:t>
            </a:r>
            <a:r>
              <a:rPr lang="es-MX" dirty="0" err="1"/>
              <a:t>observabilidad</a:t>
            </a:r>
            <a:r>
              <a:rPr lang="es-MX" dirty="0"/>
              <a:t> es un componente esencial para garantizar que los modelos de Machine </a:t>
            </a:r>
            <a:r>
              <a:rPr lang="es-MX" dirty="0" err="1"/>
              <a:t>Learning</a:t>
            </a:r>
            <a:r>
              <a:rPr lang="es-MX" dirty="0"/>
              <a:t> mantengan un desempeño confiable, explicable y sostenible a lo largo de su ciclo de vida."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61103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26</TotalTime>
  <Words>389</Words>
  <Application>Microsoft Office PowerPoint</Application>
  <PresentationFormat>Panorámica</PresentationFormat>
  <Paragraphs>22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Tw Cen MT</vt:lpstr>
      <vt:lpstr>Tw Cen MT Condensed</vt:lpstr>
      <vt:lpstr>Wingdings 3</vt:lpstr>
      <vt:lpstr>Integral</vt:lpstr>
      <vt:lpstr>Evidencia de Implementación Sistema de observabilidad, monitoreo, alertas y Data Drift            alumno:   Jonathan Bernal             profesor: Luis Vázquez             Tecmilenio, julio 2026</vt:lpstr>
      <vt:lpstr>Estructura del proyecto</vt:lpstr>
      <vt:lpstr>Ejecución del sistema</vt:lpstr>
      <vt:lpstr>Métricas del modelo</vt:lpstr>
      <vt:lpstr>Dashboard Streamlit</vt:lpstr>
      <vt:lpstr>Data Drift detectado</vt:lpstr>
      <vt:lpstr>Logs del sistema</vt:lpstr>
      <vt:lpstr>Alertas y Runbooks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DANIEL BERNAL SANCHEZ</dc:creator>
  <cp:lastModifiedBy>JONATHAN DANIEL BERNAL SANCHEZ</cp:lastModifiedBy>
  <cp:revision>19</cp:revision>
  <dcterms:created xsi:type="dcterms:W3CDTF">2026-07-25T05:35:49Z</dcterms:created>
  <dcterms:modified xsi:type="dcterms:W3CDTF">2026-07-25T06:02:23Z</dcterms:modified>
</cp:coreProperties>
</file>